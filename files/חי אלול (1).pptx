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Gill Sans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GillSans-regular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Gill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14161" l="0" r="0" t="0"/>
          <a:stretch/>
        </p:blipFill>
        <p:spPr>
          <a:xfrm>
            <a:off x="10008066" y="459631"/>
            <a:ext cx="1652265" cy="1716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2991" l="18291" r="20484" t="9505"/>
          <a:stretch/>
        </p:blipFill>
        <p:spPr>
          <a:xfrm>
            <a:off x="2421622" y="475080"/>
            <a:ext cx="7348756" cy="5907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/>
          <p:nvPr/>
        </p:nvSpPr>
        <p:spPr>
          <a:xfrm>
            <a:off x="1091682" y="486560"/>
            <a:ext cx="10030979" cy="96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iw-IL" sz="60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1. באיזו עיירה חי ופעל הבעש"ט?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1080510" y="1960227"/>
            <a:ext cx="10030979" cy="4420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ליאדי</a:t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ליובאוויטש</a:t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מעזיבוז</a:t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11258025" y="2186730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11258025" y="3912066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11258025" y="5637402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1091682" y="486560"/>
            <a:ext cx="10030979" cy="96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iw-IL" sz="60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1. מי היה אביו של אדמו"ר הזקן?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1080510" y="1960227"/>
            <a:ext cx="10030979" cy="4420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ר' ברוך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ר' אליעזר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ר' משה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11258025" y="2186730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11258025" y="3912066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11258025" y="5637402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/>
          <p:nvPr/>
        </p:nvSpPr>
        <p:spPr>
          <a:xfrm>
            <a:off x="1080510" y="1960227"/>
            <a:ext cx="10030979" cy="4420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שבת קודש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יום רביעי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יום ראשון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761171" y="533727"/>
            <a:ext cx="10803879" cy="1337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iw-IL" sz="60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3. באיזה יום בשבוע נולד אדמו"ר הזקן?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11258025" y="2186730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11258025" y="3912066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11258025" y="5637402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/>
          <p:nvPr/>
        </p:nvSpPr>
        <p:spPr>
          <a:xfrm>
            <a:off x="806456" y="717914"/>
            <a:ext cx="10907371" cy="96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iw-IL" sz="60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4. כיצד כינה אדמו"ר הזקן את הבעש"ט?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1080510" y="1960227"/>
            <a:ext cx="10030979" cy="4420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מורנו ורבינו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סבא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אבי מורי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11258025" y="2186730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11258025" y="3912066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11258025" y="5637402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/>
          <p:nvPr/>
        </p:nvSpPr>
        <p:spPr>
          <a:xfrm>
            <a:off x="1091682" y="629173"/>
            <a:ext cx="10030979" cy="96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iw-IL" sz="60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5. על מה חוזרים בתשובה מח"י אלול ואילך?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1080510" y="1960227"/>
            <a:ext cx="10030979" cy="4420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על אחד החודשים שחלפו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על אותו היום בשבוע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על החודשים שיבואו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11258025" y="2186730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11258025" y="3912066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11258025" y="5637402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/>
          <p:nvPr/>
        </p:nvSpPr>
        <p:spPr>
          <a:xfrm>
            <a:off x="1091682" y="486560"/>
            <a:ext cx="10030979" cy="96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iw-IL" sz="60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6. מה נותן לנו ח"י באלול?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1080510" y="1960227"/>
            <a:ext cx="10030979" cy="4420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שמחה לכל השנה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חיות לחודש אלול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ברכה לכל השנה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11258025" y="2186730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11258025" y="3912066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11258025" y="5637402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/>
          <p:nvPr/>
        </p:nvSpPr>
        <p:spPr>
          <a:xfrm>
            <a:off x="1030943" y="700451"/>
            <a:ext cx="10453686" cy="96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iw-IL" sz="44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7.מדוע החליט האדמו"ר הזקן לנסוע ללמוד אצל </a:t>
            </a:r>
            <a:br>
              <a:rPr b="1" i="0" lang="iw-IL" sz="44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</a:br>
            <a:r>
              <a:rPr b="1" i="0" lang="iw-IL" sz="44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המגיד ממעזריטש ולא אצל הגאון מווילנה?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-967430" y="2172634"/>
            <a:ext cx="12081545" cy="4420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w-IL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הוא שמע שבמעזריטש לומדים איך להתפלפל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w-IL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הוא שמע שבמעזריטש יש יותר תלמידים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w-IL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הוא שמע שבמעזריטש לומדים איך להתפלל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11114115" y="2927758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11122661" y="4011869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11122661" y="5140969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/>
          <p:nvPr/>
        </p:nvSpPr>
        <p:spPr>
          <a:xfrm>
            <a:off x="1091682" y="606202"/>
            <a:ext cx="10030979" cy="96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iw-IL" sz="60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8. כיצד החסידות מלמדת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iw-IL" sz="60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אותנו לקיים מצוות?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1080510" y="1960227"/>
            <a:ext cx="10030979" cy="4420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ברצינות ובכובד ראש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מתוך יראה ופחד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מתוך חיות ושמחה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11258025" y="2186730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11258025" y="3912066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11258025" y="5637402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/>
          <p:nvPr/>
        </p:nvSpPr>
        <p:spPr>
          <a:xfrm>
            <a:off x="689011" y="476775"/>
            <a:ext cx="11100318" cy="96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iw-IL" sz="60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9. מדוע אנו שמחים בעת קיום מצות?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1080510" y="1851170"/>
            <a:ext cx="10030979" cy="4420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iw-IL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כך אנו זוכים להתחבר עם ה'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iw-IL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כי המצוות מעניינות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iw-IL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כי אנו מקבלים עליהן שכר גדול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11190913" y="2425859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11190913" y="3776442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11190913" y="5127025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/>
          <p:nvPr/>
        </p:nvSpPr>
        <p:spPr>
          <a:xfrm>
            <a:off x="1091682" y="486560"/>
            <a:ext cx="10030979" cy="96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iw-IL" sz="60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10. לכל אחד מהיהודים יש: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1080510" y="1960227"/>
            <a:ext cx="10030979" cy="4420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את אותו גוף בדיוק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את אותה נשמה בדיוק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את אותן התכונות בדיוק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11258025" y="2186730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11258025" y="3912066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11258025" y="5637402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/>
          <p:nvPr/>
        </p:nvSpPr>
        <p:spPr>
          <a:xfrm>
            <a:off x="1080511" y="847287"/>
            <a:ext cx="10030979" cy="96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iw-IL" sz="60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11. מדוע חשוב להביט בסידור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iw-IL" sz="60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בזמן התפילה?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iw-IL" sz="44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377506" y="1960227"/>
            <a:ext cx="10733984" cy="4420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iw-IL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כדי שאמירת המילים תהיה מדויקת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iw-IL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כדי לעזור לעצמנו להתרכז בתפילה,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iw-IL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בלי הסחות דעת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iw-IL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שתי התשובות נכונות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4"/>
          <p:cNvSpPr/>
          <p:nvPr/>
        </p:nvSpPr>
        <p:spPr>
          <a:xfrm>
            <a:off x="11199302" y="2060895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11199302" y="3315050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11199302" y="5729681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5"/>
          <p:cNvSpPr/>
          <p:nvPr/>
        </p:nvSpPr>
        <p:spPr>
          <a:xfrm>
            <a:off x="1080510" y="728644"/>
            <a:ext cx="10030979" cy="96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iw-IL" sz="60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12. מתי יבוא המשיח?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-394283" y="1957432"/>
            <a:ext cx="11354771" cy="4420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w-IL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כשכל האנשים ישתו מי מעיין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w-IL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כשהחסידים ילמדו חסידות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w-IL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כשמעיינות החסידות יגיעו למקומות רחוקים.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10960488" y="2678884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10960488" y="3889525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10960488" y="5150099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/>
          <p:nvPr/>
        </p:nvSpPr>
        <p:spPr>
          <a:xfrm>
            <a:off x="1091682" y="671118"/>
            <a:ext cx="10030979" cy="96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iw-IL" sz="60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13. איך ילדים יכולים להפיץ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iw-IL" sz="60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את המעיינות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411062" y="1977005"/>
            <a:ext cx="10700428" cy="4420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w-IL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כאשר הם מלמדים ילדים אחרים כיצד להתנהג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w-IL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כאשר הם לומדים מילדים אחרים כיצד להתנהג בצורה טובה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w-IL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תשובות א' וב' נכונות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11258025" y="2186730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כ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11258025" y="3192011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11258025" y="5343787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</p:pic>
      <p:sp>
        <p:nvSpPr>
          <p:cNvPr id="221" name="Google Shape;221;p27"/>
          <p:cNvSpPr/>
          <p:nvPr/>
        </p:nvSpPr>
        <p:spPr>
          <a:xfrm>
            <a:off x="1100071" y="610996"/>
            <a:ext cx="10510292" cy="96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iw-IL" sz="60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14.כשאומרים את מילות התפילה בקול -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360728" y="1960227"/>
            <a:ext cx="10750762" cy="4420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w-IL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אנו מקבלים על עצמנו לשמוע בקול ה'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w-IL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אנו רומזים בכך לפסוק "הקול קול יעקב"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w-IL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אנו עוזרים לעצמנו לכוון יותר במשמעות המילים בתפילה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11111490" y="2069369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11111490" y="3190613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11122661" y="4311857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8"/>
          <p:cNvSpPr/>
          <p:nvPr/>
        </p:nvSpPr>
        <p:spPr>
          <a:xfrm>
            <a:off x="1080510" y="1960227"/>
            <a:ext cx="10030979" cy="4420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iw-IL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אלול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iw-IL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תשרי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iw-IL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חשוון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-426584" y="632456"/>
            <a:ext cx="12913453" cy="96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15. תפילה כראוי בח"י אלול </a:t>
            </a:r>
            <a:br>
              <a:rPr b="1" i="0" lang="iw-IL" sz="54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</a:br>
            <a:r>
              <a:rPr b="1" i="0" lang="iw-IL" sz="5400" u="none" cap="none" strike="noStrike">
                <a:solidFill>
                  <a:srgbClr val="FFFFFF"/>
                </a:solidFill>
                <a:latin typeface="Gisha"/>
                <a:ea typeface="Gisha"/>
                <a:cs typeface="Gisha"/>
                <a:sym typeface="Gisha"/>
              </a:rPr>
              <a:t>מתקנת את התפילות  שהתפללנו בחודש...?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11111489" y="2186730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8"/>
          <p:cNvSpPr/>
          <p:nvPr/>
        </p:nvSpPr>
        <p:spPr>
          <a:xfrm>
            <a:off x="11111489" y="3570087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11111489" y="5167383"/>
            <a:ext cx="741028" cy="741028"/>
          </a:xfrm>
          <a:prstGeom prst="ellipse">
            <a:avLst/>
          </a:prstGeom>
          <a:gradFill>
            <a:gsLst>
              <a:gs pos="0">
                <a:schemeClr val="dk1"/>
              </a:gs>
              <a:gs pos="48000">
                <a:srgbClr val="070707"/>
              </a:gs>
              <a:gs pos="100000">
                <a:srgbClr val="66666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41" name="Google Shape;241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9"/>
          <p:cNvSpPr/>
          <p:nvPr/>
        </p:nvSpPr>
        <p:spPr>
          <a:xfrm>
            <a:off x="8845675" y="1229312"/>
            <a:ext cx="1130300" cy="1130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3" name="Google Shape;243;p29"/>
          <p:cNvSpPr/>
          <p:nvPr/>
        </p:nvSpPr>
        <p:spPr>
          <a:xfrm>
            <a:off x="7575675" y="1229312"/>
            <a:ext cx="1130300" cy="1130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6305675" y="1229312"/>
            <a:ext cx="1130300" cy="1130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5035675" y="1229312"/>
            <a:ext cx="1130300" cy="1130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6" name="Google Shape;246;p29"/>
          <p:cNvSpPr/>
          <p:nvPr/>
        </p:nvSpPr>
        <p:spPr>
          <a:xfrm>
            <a:off x="3765675" y="1229312"/>
            <a:ext cx="1130300" cy="1130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7" name="Google Shape;247;p29"/>
          <p:cNvSpPr/>
          <p:nvPr/>
        </p:nvSpPr>
        <p:spPr>
          <a:xfrm>
            <a:off x="2495675" y="1229312"/>
            <a:ext cx="1130300" cy="1130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8" name="Google Shape;248;p29"/>
          <p:cNvSpPr/>
          <p:nvPr/>
        </p:nvSpPr>
        <p:spPr>
          <a:xfrm>
            <a:off x="9550525" y="4480512"/>
            <a:ext cx="1130300" cy="1130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9" name="Google Shape;249;p29"/>
          <p:cNvSpPr/>
          <p:nvPr/>
        </p:nvSpPr>
        <p:spPr>
          <a:xfrm>
            <a:off x="8280525" y="4480512"/>
            <a:ext cx="1130300" cy="1130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7010525" y="4480512"/>
            <a:ext cx="1130300" cy="1130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5740525" y="4480512"/>
            <a:ext cx="1130300" cy="1130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4470525" y="4480512"/>
            <a:ext cx="1130300" cy="1130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3" name="Google Shape;253;p29"/>
          <p:cNvSpPr/>
          <p:nvPr/>
        </p:nvSpPr>
        <p:spPr>
          <a:xfrm>
            <a:off x="3200525" y="4480512"/>
            <a:ext cx="1130300" cy="1130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4" name="Google Shape;254;p29"/>
          <p:cNvSpPr/>
          <p:nvPr/>
        </p:nvSpPr>
        <p:spPr>
          <a:xfrm>
            <a:off x="1930525" y="4480512"/>
            <a:ext cx="1130300" cy="1130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5" name="Google Shape;255;p29"/>
          <p:cNvSpPr/>
          <p:nvPr/>
        </p:nvSpPr>
        <p:spPr>
          <a:xfrm>
            <a:off x="2384780" y="333386"/>
            <a:ext cx="750077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w-IL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אספו את האותיות של התשובות הנכונות והרכיבו משפט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9045180" y="625774"/>
            <a:ext cx="731290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w-IL" sz="8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9"/>
          <p:cNvSpPr/>
          <p:nvPr/>
        </p:nvSpPr>
        <p:spPr>
          <a:xfrm>
            <a:off x="7775180" y="625774"/>
            <a:ext cx="731290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w-IL" sz="8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9"/>
          <p:cNvSpPr/>
          <p:nvPr/>
        </p:nvSpPr>
        <p:spPr>
          <a:xfrm>
            <a:off x="6645443" y="625774"/>
            <a:ext cx="450764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w-IL" sz="8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9"/>
          <p:cNvSpPr/>
          <p:nvPr/>
        </p:nvSpPr>
        <p:spPr>
          <a:xfrm>
            <a:off x="5298498" y="625774"/>
            <a:ext cx="604653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w-IL" sz="8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9"/>
          <p:cNvSpPr/>
          <p:nvPr/>
        </p:nvSpPr>
        <p:spPr>
          <a:xfrm>
            <a:off x="4105443" y="625774"/>
            <a:ext cx="450764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w-IL" sz="8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2714416" y="625774"/>
            <a:ext cx="692818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w-IL" sz="8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9"/>
          <p:cNvSpPr/>
          <p:nvPr/>
        </p:nvSpPr>
        <p:spPr>
          <a:xfrm>
            <a:off x="9765575" y="3925730"/>
            <a:ext cx="657551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w-IL" sz="8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8477140" y="3925730"/>
            <a:ext cx="694421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w-IL" sz="8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7328969" y="3925730"/>
            <a:ext cx="450764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w-IL" sz="8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9"/>
          <p:cNvSpPr/>
          <p:nvPr/>
        </p:nvSpPr>
        <p:spPr>
          <a:xfrm>
            <a:off x="5973208" y="3925730"/>
            <a:ext cx="622286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w-IL" sz="8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9"/>
          <p:cNvSpPr/>
          <p:nvPr/>
        </p:nvSpPr>
        <p:spPr>
          <a:xfrm>
            <a:off x="4600616" y="3925730"/>
            <a:ext cx="827471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w-IL" sz="8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3518969" y="3925730"/>
            <a:ext cx="450764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w-IL" sz="8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9"/>
          <p:cNvSpPr/>
          <p:nvPr/>
        </p:nvSpPr>
        <p:spPr>
          <a:xfrm>
            <a:off x="2154837" y="3925730"/>
            <a:ext cx="692818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w-IL" sz="8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29"/>
          <p:cNvCxnSpPr/>
          <p:nvPr/>
        </p:nvCxnSpPr>
        <p:spPr>
          <a:xfrm>
            <a:off x="3765675" y="3535532"/>
            <a:ext cx="506611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0" name="Google Shape;270;p29"/>
          <p:cNvSpPr/>
          <p:nvPr/>
        </p:nvSpPr>
        <p:spPr>
          <a:xfrm>
            <a:off x="6445375" y="2981912"/>
            <a:ext cx="1130300" cy="1130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1" name="Google Shape;271;p29"/>
          <p:cNvSpPr/>
          <p:nvPr/>
        </p:nvSpPr>
        <p:spPr>
          <a:xfrm>
            <a:off x="5175375" y="2981912"/>
            <a:ext cx="1130300" cy="1130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2" name="Google Shape;272;p29"/>
          <p:cNvSpPr/>
          <p:nvPr/>
        </p:nvSpPr>
        <p:spPr>
          <a:xfrm>
            <a:off x="6684295" y="2410878"/>
            <a:ext cx="707246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w-IL" sz="8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9"/>
          <p:cNvSpPr/>
          <p:nvPr/>
        </p:nvSpPr>
        <p:spPr>
          <a:xfrm>
            <a:off x="5400670" y="2410878"/>
            <a:ext cx="734496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w-IL" sz="8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75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